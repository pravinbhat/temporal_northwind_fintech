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83"/>
    <p:restoredTop sz="94610"/>
  </p:normalViewPr>
  <p:slideViewPr>
    <p:cSldViewPr snapToGrid="0" snapToObjects="1">
      <p:cViewPr varScale="1">
        <p:scale>
          <a:sx n="201" d="100"/>
          <a:sy n="201" d="100"/>
        </p:scale>
        <p:origin x="208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0763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12750"/>
          </a:xfrm>
          <a:prstGeom prst="rect">
            <a:avLst/>
          </a:prstGeom>
          <a:solidFill>
            <a:srgbClr val="1C2E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49126"/>
            <a:ext cx="85496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Clarifying Questions &amp; Problem Restatement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511076"/>
            <a:ext cx="85496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11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Northwind Systems — Fintech Onboarding &amp; KYC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81000" y="1092101"/>
            <a:ext cx="3555950" cy="1354336"/>
          </a:xfrm>
          <a:prstGeom prst="roundRect">
            <a:avLst>
              <a:gd name="adj" fmla="val 375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81000" y="1096863"/>
            <a:ext cx="3555950" cy="0"/>
          </a:xfrm>
          <a:prstGeom prst="line">
            <a:avLst/>
          </a:prstGeom>
          <a:noFill/>
          <a:ln w="9525">
            <a:solidFill>
              <a:srgbClr val="D7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932188" y="1092101"/>
            <a:ext cx="0" cy="1354336"/>
          </a:xfrm>
          <a:prstGeom prst="line">
            <a:avLst/>
          </a:prstGeom>
          <a:noFill/>
          <a:ln w="9525">
            <a:solidFill>
              <a:srgbClr val="D7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81000" y="2441674"/>
            <a:ext cx="3555950" cy="0"/>
          </a:xfrm>
          <a:prstGeom prst="line">
            <a:avLst/>
          </a:prstGeom>
          <a:noFill/>
          <a:ln w="9525">
            <a:solidFill>
              <a:srgbClr val="D7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09575" y="1092101"/>
            <a:ext cx="0" cy="1354336"/>
          </a:xfrm>
          <a:prstGeom prst="line">
            <a:avLst/>
          </a:prstGeom>
          <a:noFill/>
          <a:ln w="57150">
            <a:solidFill>
              <a:srgbClr val="1289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15851" y="1254026"/>
            <a:ext cx="31965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28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Characteristics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5851" y="1530251"/>
            <a:ext cx="3196551" cy="754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85"/>
              </a:lnSpc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runs for hours-to-days, depends on external KYC checks plus manual compliance review, and sometimes stalls. Policy changes can land while workflows are already in flight.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1000" y="2624138"/>
            <a:ext cx="3555950" cy="1943100"/>
          </a:xfrm>
          <a:prstGeom prst="roundRect">
            <a:avLst>
              <a:gd name="adj" fmla="val 261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81000" y="2628900"/>
            <a:ext cx="3555950" cy="0"/>
          </a:xfrm>
          <a:prstGeom prst="line">
            <a:avLst/>
          </a:prstGeom>
          <a:noFill/>
          <a:ln w="9525">
            <a:solidFill>
              <a:srgbClr val="D7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932188" y="2624138"/>
            <a:ext cx="0" cy="1943100"/>
          </a:xfrm>
          <a:prstGeom prst="line">
            <a:avLst/>
          </a:prstGeom>
          <a:noFill/>
          <a:ln w="9525">
            <a:solidFill>
              <a:srgbClr val="D7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81000" y="4562475"/>
            <a:ext cx="3555950" cy="0"/>
          </a:xfrm>
          <a:prstGeom prst="line">
            <a:avLst/>
          </a:prstGeom>
          <a:noFill/>
          <a:ln w="9525">
            <a:solidFill>
              <a:srgbClr val="D7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09575" y="2624138"/>
            <a:ext cx="0" cy="1943100"/>
          </a:xfrm>
          <a:prstGeom prst="line">
            <a:avLst/>
          </a:prstGeom>
          <a:noFill/>
          <a:ln w="5715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5851" y="2786063"/>
            <a:ext cx="31965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C77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Assumptions If Unanswered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5851" y="3062288"/>
            <a:ext cx="3133874" cy="1279624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marL="88900" indent="-88900" algn="l">
              <a:lnSpc>
                <a:spcPts val="143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KYC vendor is synchronous, not guaranteed idempotent</a:t>
            </a:r>
            <a:endParaRPr lang="en-US" sz="1100" dirty="0"/>
          </a:p>
          <a:p>
            <a:pPr marL="88900" indent="-88900" algn="l">
              <a:lnSpc>
                <a:spcPts val="143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48-hour review SLA before escalation</a:t>
            </a:r>
            <a:endParaRPr lang="en-US" sz="1100" dirty="0"/>
          </a:p>
          <a:p>
            <a:pPr marL="88900" indent="-88900" algn="l">
              <a:lnSpc>
                <a:spcPts val="143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 volume — hundreds of applications/day</a:t>
            </a:r>
            <a:endParaRPr lang="en-US" sz="1100" dirty="0"/>
          </a:p>
          <a:p>
            <a:pPr marL="88900" indent="-88900" algn="l">
              <a:lnSpc>
                <a:spcPts val="143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Net-new applications only for first release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90851" y="1092102"/>
            <a:ext cx="4572000" cy="3470374"/>
          </a:xfrm>
          <a:prstGeom prst="roundRect">
            <a:avLst>
              <a:gd name="adj" fmla="val 1347"/>
            </a:avLst>
          </a:prstGeom>
          <a:solidFill>
            <a:srgbClr val="FFFFFF"/>
          </a:solidFill>
          <a:ln w="9525">
            <a:solidFill>
              <a:srgbClr val="D7DEE3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403527" y="1254026"/>
            <a:ext cx="422958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C2E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Clarifying Questions Asked First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403527" y="1555552"/>
            <a:ext cx="4146649" cy="2376488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marL="101600" indent="-101600" algn="l">
              <a:lnSpc>
                <a:spcPts val="1552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"stuck" look like today — lost state, missing retries, or a visibility gap?</a:t>
            </a:r>
            <a:endParaRPr lang="en-US" sz="1150" dirty="0"/>
          </a:p>
          <a:p>
            <a:pPr marL="101600" indent="-101600" algn="l">
              <a:lnSpc>
                <a:spcPts val="1552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the compliance review queue look like, and what happens if a reviewer is out for two days?</a:t>
            </a:r>
            <a:endParaRPr lang="en-US" sz="1150" dirty="0"/>
          </a:p>
          <a:p>
            <a:pPr marL="101600" indent="-101600" algn="l">
              <a:lnSpc>
                <a:spcPts val="1552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KYC vendor is down for two hours, do we wait-and-retry or fail and notify the customer?</a:t>
            </a:r>
            <a:endParaRPr lang="en-US" sz="1150" dirty="0"/>
          </a:p>
          <a:p>
            <a:pPr marL="101600" indent="-101600" algn="l">
              <a:lnSpc>
                <a:spcPts val="1552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 a policy change ever broken an in-flight onboarding process before?</a:t>
            </a:r>
            <a:endParaRPr lang="en-US" sz="1150" dirty="0"/>
          </a:p>
          <a:p>
            <a:pPr marL="101600" indent="-101600" algn="l">
              <a:lnSpc>
                <a:spcPts val="1552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team would own this workflow — signup, compliance, or a platform team?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12750"/>
          </a:xfrm>
          <a:prstGeom prst="rect">
            <a:avLst/>
          </a:prstGeom>
          <a:solidFill>
            <a:srgbClr val="1C2E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49126"/>
            <a:ext cx="85496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Design — One Path, Clear Boundaries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511076"/>
            <a:ext cx="85496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11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Submitted → KYC Checks → Manual Review → Account Activated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39800" y="1292126"/>
            <a:ext cx="1143000" cy="507950"/>
          </a:xfrm>
          <a:prstGeom prst="roundRect">
            <a:avLst>
              <a:gd name="adj" fmla="val 10001"/>
            </a:avLst>
          </a:prstGeom>
          <a:solidFill>
            <a:srgbClr val="EEF3F7"/>
          </a:solidFill>
          <a:ln w="19050">
            <a:solidFill>
              <a:srgbClr val="9FB3C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90043" y="1477566"/>
            <a:ext cx="842364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4451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Signup Service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81883" y="1850827"/>
            <a:ext cx="65883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trigger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680768" y="1398389"/>
            <a:ext cx="2072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885950" y="1041350"/>
            <a:ext cx="6718102" cy="914251"/>
          </a:xfrm>
          <a:prstGeom prst="roundRect">
            <a:avLst>
              <a:gd name="adj" fmla="val 6946"/>
            </a:avLst>
          </a:prstGeom>
          <a:noFill/>
          <a:ln w="19050">
            <a:solidFill>
              <a:srgbClr val="12897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915924" y="1161901"/>
            <a:ext cx="665815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28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Worker orchestrates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981200" y="1352401"/>
            <a:ext cx="1143000" cy="507950"/>
          </a:xfrm>
          <a:prstGeom prst="roundRect">
            <a:avLst>
              <a:gd name="adj" fmla="val 10001"/>
            </a:avLst>
          </a:prstGeom>
          <a:solidFill>
            <a:srgbClr val="FFFFFF"/>
          </a:solidFill>
          <a:ln w="19050">
            <a:solidFill>
              <a:srgbClr val="12897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102447" y="1537841"/>
            <a:ext cx="900505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1C2E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Store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122168" y="1506289"/>
            <a:ext cx="2072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28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27350" y="1352401"/>
            <a:ext cx="1143000" cy="507950"/>
          </a:xfrm>
          <a:prstGeom prst="roundRect">
            <a:avLst>
              <a:gd name="adj" fmla="val 10001"/>
            </a:avLst>
          </a:prstGeom>
          <a:solidFill>
            <a:srgbClr val="FFFFFF"/>
          </a:solidFill>
          <a:ln w="19050">
            <a:solidFill>
              <a:srgbClr val="12897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561845" y="1537841"/>
            <a:ext cx="673861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1C2E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KYC Vendor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468319" y="1506289"/>
            <a:ext cx="2072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28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73501" y="1352401"/>
            <a:ext cx="1143000" cy="507950"/>
          </a:xfrm>
          <a:prstGeom prst="roundRect">
            <a:avLst>
              <a:gd name="adj" fmla="val 10001"/>
            </a:avLst>
          </a:prstGeom>
          <a:solidFill>
            <a:srgbClr val="FFFFFF"/>
          </a:solidFill>
          <a:ln w="19050">
            <a:solidFill>
              <a:srgbClr val="12897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720364" y="1469231"/>
            <a:ext cx="1049274" cy="27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1C2E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Review Queue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814469" y="1506289"/>
            <a:ext cx="2072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28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019651" y="1352401"/>
            <a:ext cx="1143000" cy="507950"/>
          </a:xfrm>
          <a:prstGeom prst="roundRect">
            <a:avLst>
              <a:gd name="adj" fmla="val 10001"/>
            </a:avLst>
          </a:prstGeom>
          <a:solidFill>
            <a:srgbClr val="FFFFFF"/>
          </a:solidFill>
          <a:ln w="19050">
            <a:solidFill>
              <a:srgbClr val="12897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134221" y="1537841"/>
            <a:ext cx="913712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1C2E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Service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160620" y="1506289"/>
            <a:ext cx="2072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28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65802" y="1352401"/>
            <a:ext cx="1143000" cy="507950"/>
          </a:xfrm>
          <a:prstGeom prst="roundRect">
            <a:avLst>
              <a:gd name="adj" fmla="val 10001"/>
            </a:avLst>
          </a:prstGeom>
          <a:solidFill>
            <a:srgbClr val="FFFFFF"/>
          </a:solidFill>
          <a:ln w="19050">
            <a:solidFill>
              <a:srgbClr val="12897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687736" y="1537841"/>
            <a:ext cx="498982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1C2E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736503" y="2057102"/>
            <a:ext cx="165050" cy="165050"/>
          </a:xfrm>
          <a:prstGeom prst="roundRect">
            <a:avLst>
              <a:gd name="adj" fmla="val 15389"/>
            </a:avLst>
          </a:prstGeom>
          <a:solidFill>
            <a:srgbClr val="EEF3F7"/>
          </a:solidFill>
          <a:ln w="19050">
            <a:solidFill>
              <a:srgbClr val="9FB3C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2964954" y="2082403"/>
            <a:ext cx="136442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4451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trigger (out of scope)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531221" y="2057102"/>
            <a:ext cx="165050" cy="165050"/>
          </a:xfrm>
          <a:prstGeom prst="roundRect">
            <a:avLst>
              <a:gd name="adj" fmla="val 15389"/>
            </a:avLst>
          </a:prstGeom>
          <a:solidFill>
            <a:srgbClr val="FFFFFF"/>
          </a:solidFill>
          <a:ln w="19050">
            <a:solidFill>
              <a:srgbClr val="12897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759672" y="2082403"/>
            <a:ext cx="168078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4451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Activity (durable, retryable)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81000" y="2399854"/>
            <a:ext cx="85496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4451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DESIGN DECISIONS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81000" y="2615654"/>
            <a:ext cx="1595140" cy="2273945"/>
          </a:xfrm>
          <a:prstGeom prst="roundRect">
            <a:avLst>
              <a:gd name="adj" fmla="val 318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381000" y="2639467"/>
            <a:ext cx="1595140" cy="0"/>
          </a:xfrm>
          <a:prstGeom prst="line">
            <a:avLst/>
          </a:prstGeom>
          <a:noFill/>
          <a:ln w="47625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971377" y="2615654"/>
            <a:ext cx="0" cy="2273945"/>
          </a:xfrm>
          <a:prstGeom prst="line">
            <a:avLst/>
          </a:prstGeom>
          <a:noFill/>
          <a:ln w="9525">
            <a:solidFill>
              <a:srgbClr val="D7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81000" y="4884837"/>
            <a:ext cx="1595140" cy="0"/>
          </a:xfrm>
          <a:prstGeom prst="line">
            <a:avLst/>
          </a:prstGeom>
          <a:noFill/>
          <a:ln w="9525">
            <a:solidFill>
              <a:srgbClr val="D7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85763" y="2615654"/>
            <a:ext cx="0" cy="2273945"/>
          </a:xfrm>
          <a:prstGeom prst="line">
            <a:avLst/>
          </a:prstGeom>
          <a:noFill/>
          <a:ln w="9525">
            <a:solidFill>
              <a:srgbClr val="D7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30126" y="2790230"/>
            <a:ext cx="132282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C77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Timers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30126" y="3006030"/>
            <a:ext cx="1322826" cy="630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2"/>
              </a:lnSpc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Workflow.await(48h) blocks without polling. Timer fires → escalates to a senior reviewer.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077641" y="2615654"/>
            <a:ext cx="1595289" cy="2273945"/>
          </a:xfrm>
          <a:prstGeom prst="roundRect">
            <a:avLst>
              <a:gd name="adj" fmla="val 318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2077641" y="2639467"/>
            <a:ext cx="1595289" cy="0"/>
          </a:xfrm>
          <a:prstGeom prst="line">
            <a:avLst/>
          </a:prstGeom>
          <a:noFill/>
          <a:ln w="47625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3668167" y="2615654"/>
            <a:ext cx="0" cy="2273945"/>
          </a:xfrm>
          <a:prstGeom prst="line">
            <a:avLst/>
          </a:prstGeom>
          <a:noFill/>
          <a:ln w="9525">
            <a:solidFill>
              <a:srgbClr val="D7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2077641" y="4884837"/>
            <a:ext cx="1595289" cy="0"/>
          </a:xfrm>
          <a:prstGeom prst="line">
            <a:avLst/>
          </a:prstGeom>
          <a:noFill/>
          <a:ln w="9525">
            <a:solidFill>
              <a:srgbClr val="D7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2082403" y="2615654"/>
            <a:ext cx="0" cy="2273945"/>
          </a:xfrm>
          <a:prstGeom prst="line">
            <a:avLst/>
          </a:prstGeom>
          <a:noFill/>
          <a:ln w="9525">
            <a:solidFill>
              <a:srgbClr val="D7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2226766" y="2790230"/>
            <a:ext cx="13229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C77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2226766" y="3006030"/>
            <a:ext cx="1322978" cy="788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2"/>
              </a:lnSpc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@SignalMethod reviewDecision() — reviewer hits HTTP endpoint; Temporal Signal unblocks the wait.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774430" y="2615654"/>
            <a:ext cx="1595140" cy="2273945"/>
          </a:xfrm>
          <a:prstGeom prst="roundRect">
            <a:avLst>
              <a:gd name="adj" fmla="val 318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Shape 43"/>
          <p:cNvSpPr/>
          <p:nvPr/>
        </p:nvSpPr>
        <p:spPr>
          <a:xfrm>
            <a:off x="3774430" y="2639467"/>
            <a:ext cx="1595140" cy="0"/>
          </a:xfrm>
          <a:prstGeom prst="line">
            <a:avLst/>
          </a:prstGeom>
          <a:noFill/>
          <a:ln w="47625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5364807" y="2615654"/>
            <a:ext cx="0" cy="2273945"/>
          </a:xfrm>
          <a:prstGeom prst="line">
            <a:avLst/>
          </a:prstGeom>
          <a:noFill/>
          <a:ln w="9525">
            <a:solidFill>
              <a:srgbClr val="D7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3774430" y="4884837"/>
            <a:ext cx="1595140" cy="0"/>
          </a:xfrm>
          <a:prstGeom prst="line">
            <a:avLst/>
          </a:prstGeom>
          <a:noFill/>
          <a:ln w="9525">
            <a:solidFill>
              <a:srgbClr val="D7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3779193" y="2615654"/>
            <a:ext cx="0" cy="2273945"/>
          </a:xfrm>
          <a:prstGeom prst="line">
            <a:avLst/>
          </a:prstGeom>
          <a:noFill/>
          <a:ln w="9525">
            <a:solidFill>
              <a:srgbClr val="D7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923556" y="2790230"/>
            <a:ext cx="132282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C77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Evolution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3923556" y="3006030"/>
            <a:ext cx="1322826" cy="788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2"/>
              </a:lnSpc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Workflow.getVersion() branches old vs. new policy — in-flight executions keep their original logic.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471071" y="2615654"/>
            <a:ext cx="1595289" cy="2273945"/>
          </a:xfrm>
          <a:prstGeom prst="roundRect">
            <a:avLst>
              <a:gd name="adj" fmla="val 318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Shape 50"/>
          <p:cNvSpPr/>
          <p:nvPr/>
        </p:nvSpPr>
        <p:spPr>
          <a:xfrm>
            <a:off x="5471071" y="2639467"/>
            <a:ext cx="1595289" cy="0"/>
          </a:xfrm>
          <a:prstGeom prst="line">
            <a:avLst/>
          </a:prstGeom>
          <a:noFill/>
          <a:ln w="47625">
            <a:solidFill>
              <a:srgbClr val="3B8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7061597" y="2615654"/>
            <a:ext cx="0" cy="2273945"/>
          </a:xfrm>
          <a:prstGeom prst="line">
            <a:avLst/>
          </a:prstGeom>
          <a:noFill/>
          <a:ln w="9525">
            <a:solidFill>
              <a:srgbClr val="D7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5471071" y="4884837"/>
            <a:ext cx="1595289" cy="0"/>
          </a:xfrm>
          <a:prstGeom prst="line">
            <a:avLst/>
          </a:prstGeom>
          <a:noFill/>
          <a:ln w="9525">
            <a:solidFill>
              <a:srgbClr val="D7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5475833" y="2615654"/>
            <a:ext cx="0" cy="2273945"/>
          </a:xfrm>
          <a:prstGeom prst="line">
            <a:avLst/>
          </a:prstGeom>
          <a:noFill/>
          <a:ln w="9525">
            <a:solidFill>
              <a:srgbClr val="D7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5620196" y="2790230"/>
            <a:ext cx="13229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56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5620196" y="3006030"/>
            <a:ext cx="1322978" cy="788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2"/>
              </a:lnSpc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onboarding_audit written at every step. Temporal history = complete durable record for regulators.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167860" y="2615654"/>
            <a:ext cx="1595140" cy="2273945"/>
          </a:xfrm>
          <a:prstGeom prst="roundRect">
            <a:avLst>
              <a:gd name="adj" fmla="val 318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Shape 57"/>
          <p:cNvSpPr/>
          <p:nvPr/>
        </p:nvSpPr>
        <p:spPr>
          <a:xfrm>
            <a:off x="7167860" y="2639467"/>
            <a:ext cx="1595140" cy="0"/>
          </a:xfrm>
          <a:prstGeom prst="line">
            <a:avLst/>
          </a:prstGeom>
          <a:noFill/>
          <a:ln w="47625">
            <a:solidFill>
              <a:srgbClr val="3B8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8758238" y="2615654"/>
            <a:ext cx="0" cy="2273945"/>
          </a:xfrm>
          <a:prstGeom prst="line">
            <a:avLst/>
          </a:prstGeom>
          <a:noFill/>
          <a:ln w="9525">
            <a:solidFill>
              <a:srgbClr val="D7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7167860" y="4884837"/>
            <a:ext cx="1595140" cy="0"/>
          </a:xfrm>
          <a:prstGeom prst="line">
            <a:avLst/>
          </a:prstGeom>
          <a:noFill/>
          <a:ln w="9525">
            <a:solidFill>
              <a:srgbClr val="D7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7172623" y="2615654"/>
            <a:ext cx="0" cy="2273945"/>
          </a:xfrm>
          <a:prstGeom prst="line">
            <a:avLst/>
          </a:prstGeom>
          <a:noFill/>
          <a:ln w="9525">
            <a:solidFill>
              <a:srgbClr val="D7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7316986" y="2790230"/>
            <a:ext cx="132282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256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Visibility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7316986" y="3006030"/>
            <a:ext cx="1322826" cy="788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2"/>
              </a:lnSpc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Web UI for ops; SELECT * FROM onboarding_audit WHERE workflow_id = ? for compliance.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12750"/>
          </a:xfrm>
          <a:prstGeom prst="rect">
            <a:avLst/>
          </a:prstGeom>
          <a:solidFill>
            <a:srgbClr val="1C2E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49126"/>
            <a:ext cx="85496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Handling, Idempotency &amp; Ownership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511076"/>
            <a:ext cx="85496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11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Retries, timeouts, audit, and visibility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81000" y="1410146"/>
            <a:ext cx="8382000" cy="0"/>
          </a:xfrm>
          <a:prstGeom prst="line">
            <a:avLst/>
          </a:prstGeom>
          <a:noFill/>
          <a:ln w="19050">
            <a:solidFill>
              <a:srgbClr val="1C2E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81000" y="1157436"/>
            <a:ext cx="2216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2E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Concern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54039" y="1142851"/>
            <a:ext cx="6333140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1C2E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Mechanism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81000" y="1990576"/>
            <a:ext cx="8382000" cy="0"/>
          </a:xfrm>
          <a:prstGeom prst="line">
            <a:avLst/>
          </a:prstGeom>
          <a:noFill/>
          <a:ln w="9525">
            <a:solidFill>
              <a:srgbClr val="D7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81000" y="1617018"/>
            <a:ext cx="2216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28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Retries + backoff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54039" y="1521172"/>
            <a:ext cx="6333140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0"/>
              </a:lnSpc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ActivityOptions retry policy — up to 5 attempts with exponential backoff for the KYC vendor call, 3 for everything else.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1000" y="2566243"/>
            <a:ext cx="8382000" cy="0"/>
          </a:xfrm>
          <a:prstGeom prst="line">
            <a:avLst/>
          </a:prstGeom>
          <a:noFill/>
          <a:ln w="9525">
            <a:solidFill>
              <a:srgbClr val="D7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81000" y="2192685"/>
            <a:ext cx="2216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28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external waits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54039" y="2096839"/>
            <a:ext cx="6333140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0"/>
              </a:lnSpc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heartbeat + StartToCloseTimeout / ScheduleToCloseTimeout — Temporal detects a hung vendor call without polling.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81000" y="3141911"/>
            <a:ext cx="8382000" cy="0"/>
          </a:xfrm>
          <a:prstGeom prst="line">
            <a:avLst/>
          </a:prstGeom>
          <a:noFill/>
          <a:ln w="9525">
            <a:solidFill>
              <a:srgbClr val="D7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81000" y="2768352"/>
            <a:ext cx="2216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28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Idempotency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54039" y="2672507"/>
            <a:ext cx="6333140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0"/>
              </a:lnSpc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workflowId + activityId as the dedupe key; Postgres ON CONFLICT DO NOTHING makes every activity retry safe.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81000" y="3536007"/>
            <a:ext cx="8382000" cy="0"/>
          </a:xfrm>
          <a:prstGeom prst="line">
            <a:avLst/>
          </a:prstGeom>
          <a:noFill/>
          <a:ln w="9525">
            <a:solidFill>
              <a:srgbClr val="D7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81000" y="3253234"/>
            <a:ext cx="2216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28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554039" y="3248174"/>
            <a:ext cx="6333140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0"/>
              </a:lnSpc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activity appends to onboarding_audit — a durable, regulator-visible history of the full lifecycle.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81000" y="4111675"/>
            <a:ext cx="8382000" cy="0"/>
          </a:xfrm>
          <a:prstGeom prst="line">
            <a:avLst/>
          </a:prstGeom>
          <a:noFill/>
          <a:ln w="9525">
            <a:solidFill>
              <a:srgbClr val="D7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81000" y="3738116"/>
            <a:ext cx="2216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28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visibility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554039" y="3642271"/>
            <a:ext cx="6333140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0"/>
              </a:lnSpc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Web UI for execution timeline and retries, plus a live SQL audit query for the business view.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81000" y="4687342"/>
            <a:ext cx="8382000" cy="0"/>
          </a:xfrm>
          <a:prstGeom prst="line">
            <a:avLst/>
          </a:prstGeom>
          <a:noFill/>
          <a:ln w="9525">
            <a:solidFill>
              <a:srgbClr val="D7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81000" y="4313783"/>
            <a:ext cx="2216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28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Ownership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554039" y="4217938"/>
            <a:ext cx="6333140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0"/>
              </a:lnSpc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team owns Temporal infra; compliance team owns review policy; signup team owns the activities.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12750"/>
          </a:xfrm>
          <a:prstGeom prst="rect">
            <a:avLst/>
          </a:prstGeom>
          <a:solidFill>
            <a:srgbClr val="1C2E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49126"/>
            <a:ext cx="85496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— One Success Path, One Failure Path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511076"/>
            <a:ext cx="85496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11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Workflow prototype: Java App + Temporal Java SDK + Postgres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81000" y="1066651"/>
            <a:ext cx="3936950" cy="2366665"/>
          </a:xfrm>
          <a:prstGeom prst="roundRect">
            <a:avLst>
              <a:gd name="adj" fmla="val 214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81000" y="1071414"/>
            <a:ext cx="3936950" cy="0"/>
          </a:xfrm>
          <a:prstGeom prst="line">
            <a:avLst/>
          </a:prstGeom>
          <a:noFill/>
          <a:ln w="9525">
            <a:solidFill>
              <a:srgbClr val="D7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313188" y="1066651"/>
            <a:ext cx="0" cy="2366665"/>
          </a:xfrm>
          <a:prstGeom prst="line">
            <a:avLst/>
          </a:prstGeom>
          <a:noFill/>
          <a:ln w="9525">
            <a:solidFill>
              <a:srgbClr val="D7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81000" y="3428554"/>
            <a:ext cx="3936950" cy="0"/>
          </a:xfrm>
          <a:prstGeom prst="line">
            <a:avLst/>
          </a:prstGeom>
          <a:noFill/>
          <a:ln w="9525">
            <a:solidFill>
              <a:srgbClr val="D7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09575" y="1066651"/>
            <a:ext cx="0" cy="2366665"/>
          </a:xfrm>
          <a:prstGeom prst="line">
            <a:avLst/>
          </a:prstGeom>
          <a:noFill/>
          <a:ln w="57150">
            <a:solidFill>
              <a:srgbClr val="1289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1300" y="1253877"/>
            <a:ext cx="353325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28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A — Happy Path (with retries)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1300" y="1504958"/>
            <a:ext cx="3463975" cy="1796642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marL="88900" indent="-88900" algn="l">
              <a:lnSpc>
                <a:spcPts val="1365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KYC check fails on attempts 1–2 (simulated transient error), passes on attempt 3</a:t>
            </a:r>
          </a:p>
          <a:p>
            <a:pPr marL="88900" indent="-88900" algn="l">
              <a:lnSpc>
                <a:spcPts val="1365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cs typeface="Arial" pitchFamily="34" charset="-120"/>
              </a:rPr>
              <a:t>Workflow is resilient to infra failures</a:t>
            </a:r>
            <a:endParaRPr lang="en-US" sz="1050" dirty="0"/>
          </a:p>
          <a:p>
            <a:pPr marL="88900" indent="-88900" algn="l">
              <a:lnSpc>
                <a:spcPts val="1365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Web UI shows the automatic retry — no custom code, no polling</a:t>
            </a:r>
            <a:endParaRPr lang="en-US" sz="1050" dirty="0"/>
          </a:p>
          <a:p>
            <a:pPr marL="88900" indent="-88900">
              <a:lnSpc>
                <a:spcPts val="1365"/>
              </a:lnSpc>
              <a:spcAft>
                <a:spcPts val="500"/>
              </a:spcAft>
              <a:buSzPct val="100000"/>
              <a:buFontTx/>
              <a:buChar char="•"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reviewer approves via curl → POST /review/{id}/approve OR /review/{id}/reject</a:t>
            </a:r>
            <a:endParaRPr lang="en-US" sz="1050" dirty="0"/>
          </a:p>
          <a:p>
            <a:pPr marL="88900" indent="-88900">
              <a:lnSpc>
                <a:spcPts val="1365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activated Or Application rejected</a:t>
            </a:r>
          </a:p>
          <a:p>
            <a:pPr marL="88900" indent="-88900" algn="l">
              <a:lnSpc>
                <a:spcPts val="1365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audit trail written to Postgres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1851" y="1066651"/>
            <a:ext cx="3936950" cy="2366665"/>
          </a:xfrm>
          <a:prstGeom prst="roundRect">
            <a:avLst>
              <a:gd name="adj" fmla="val 214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571851" y="1071414"/>
            <a:ext cx="3936950" cy="0"/>
          </a:xfrm>
          <a:prstGeom prst="line">
            <a:avLst/>
          </a:prstGeom>
          <a:noFill/>
          <a:ln w="9525">
            <a:solidFill>
              <a:srgbClr val="D7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504039" y="1066651"/>
            <a:ext cx="0" cy="2366665"/>
          </a:xfrm>
          <a:prstGeom prst="line">
            <a:avLst/>
          </a:prstGeom>
          <a:noFill/>
          <a:ln w="9525">
            <a:solidFill>
              <a:srgbClr val="D7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1851" y="3428554"/>
            <a:ext cx="3936950" cy="0"/>
          </a:xfrm>
          <a:prstGeom prst="line">
            <a:avLst/>
          </a:prstGeom>
          <a:noFill/>
          <a:ln w="9525">
            <a:solidFill>
              <a:srgbClr val="D7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600426" y="1066651"/>
            <a:ext cx="0" cy="2366665"/>
          </a:xfrm>
          <a:prstGeom prst="line">
            <a:avLst/>
          </a:prstGeom>
          <a:noFill/>
          <a:ln w="5715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32152" y="1253877"/>
            <a:ext cx="353325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C77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B — KYC Rejection (failure path)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32152" y="1555403"/>
            <a:ext cx="3463975" cy="1614488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marL="88900" indent="-88900" algn="l">
              <a:lnSpc>
                <a:spcPts val="1365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KYC_FORCE_FAIL=true — vendor returns false, no exception, no retry</a:t>
            </a:r>
          </a:p>
          <a:p>
            <a:pPr marL="88900" indent="-88900" algn="l">
              <a:lnSpc>
                <a:spcPts val="1365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cs typeface="Arial" pitchFamily="34" charset="-120"/>
              </a:rPr>
              <a:t>Workflow auto-rejected due to SLA breach (Timeout)</a:t>
            </a:r>
            <a:endParaRPr lang="en-US" sz="1050" dirty="0"/>
          </a:p>
          <a:p>
            <a:pPr marL="88900" indent="-88900" algn="l">
              <a:lnSpc>
                <a:spcPts val="1365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reads false and calls rejectApplication() immediately</a:t>
            </a:r>
            <a:endParaRPr lang="en-US" sz="1050" dirty="0"/>
          </a:p>
          <a:p>
            <a:pPr marL="88900" indent="-88900" algn="l">
              <a:lnSpc>
                <a:spcPts val="1365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terminal REJECTED state with an accurate audit trail</a:t>
            </a:r>
            <a:endParaRPr lang="en-US" sz="1050" dirty="0"/>
          </a:p>
          <a:p>
            <a:pPr marL="88900" indent="-88900" algn="l">
              <a:lnSpc>
                <a:spcPts val="1365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a deliberate business failure path — not a crash, not a retry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81000" y="3611016"/>
            <a:ext cx="8135212" cy="860127"/>
          </a:xfrm>
          <a:prstGeom prst="roundRect">
            <a:avLst>
              <a:gd name="adj" fmla="val 8100"/>
            </a:avLst>
          </a:prstGeom>
          <a:solidFill>
            <a:srgbClr val="1C2E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84150" y="3737967"/>
            <a:ext cx="8135213" cy="591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1470"/>
              </a:lnSpc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 and Audit Trail</a:t>
            </a:r>
          </a:p>
          <a:p>
            <a:pPr marL="171450" indent="-171450" algn="l">
              <a:lnSpc>
                <a:spcPts val="147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Web UI shows full workflow life-cycle (execution history, retries, pending signals) </a:t>
            </a:r>
          </a:p>
          <a:p>
            <a:pPr marL="171450" indent="-171450" algn="l">
              <a:lnSpc>
                <a:spcPts val="147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 DB: Shows full regulator friendly audit trail (SELECT * FROM onboarding_audit WHERE workflow_id = ?)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12750"/>
          </a:xfrm>
          <a:prstGeom prst="rect">
            <a:avLst/>
          </a:prstGeom>
          <a:solidFill>
            <a:srgbClr val="1C2E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49126"/>
            <a:ext cx="85496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Rollout Plan — First 30–60 Days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511076"/>
            <a:ext cx="85496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11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Phased adoption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81000" y="1041350"/>
            <a:ext cx="4063901" cy="1238845"/>
          </a:xfrm>
          <a:prstGeom prst="roundRect">
            <a:avLst>
              <a:gd name="adj" fmla="val 410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81000" y="1069925"/>
            <a:ext cx="4063901" cy="0"/>
          </a:xfrm>
          <a:prstGeom prst="line">
            <a:avLst/>
          </a:prstGeom>
          <a:noFill/>
          <a:ln w="57150">
            <a:solidFill>
              <a:srgbClr val="1289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440138" y="1041350"/>
            <a:ext cx="0" cy="1238845"/>
          </a:xfrm>
          <a:prstGeom prst="line">
            <a:avLst/>
          </a:prstGeom>
          <a:noFill/>
          <a:ln w="9525">
            <a:solidFill>
              <a:srgbClr val="D7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81000" y="2275433"/>
            <a:ext cx="4063901" cy="0"/>
          </a:xfrm>
          <a:prstGeom prst="line">
            <a:avLst/>
          </a:prstGeom>
          <a:noFill/>
          <a:ln w="9525">
            <a:solidFill>
              <a:srgbClr val="D7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85763" y="1041350"/>
            <a:ext cx="0" cy="1238845"/>
          </a:xfrm>
          <a:prstGeom prst="line">
            <a:avLst/>
          </a:prstGeom>
          <a:noFill/>
          <a:ln w="9525">
            <a:solidFill>
              <a:srgbClr val="D7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2925" y="1225451"/>
            <a:ext cx="38148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28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1–30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2925" y="1406426"/>
            <a:ext cx="381485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C2E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Run and Observe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2925" y="1673126"/>
            <a:ext cx="3814852" cy="470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5"/>
              </a:lnSpc>
              <a:buNone/>
            </a:pPr>
            <a:r>
              <a:rPr lang="en-US" sz="9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handles net-new applications only. Old system keeps running in-flight ones. Single shared namespace and task queue. Observe KYC and review queue response times.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699099" y="1041350"/>
            <a:ext cx="4063901" cy="1238845"/>
          </a:xfrm>
          <a:prstGeom prst="roundRect">
            <a:avLst>
              <a:gd name="adj" fmla="val 410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699099" y="1069925"/>
            <a:ext cx="4063901" cy="0"/>
          </a:xfrm>
          <a:prstGeom prst="line">
            <a:avLst/>
          </a:prstGeom>
          <a:noFill/>
          <a:ln w="57150">
            <a:solidFill>
              <a:srgbClr val="1289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758237" y="1041350"/>
            <a:ext cx="0" cy="1238845"/>
          </a:xfrm>
          <a:prstGeom prst="line">
            <a:avLst/>
          </a:prstGeom>
          <a:noFill/>
          <a:ln w="9525">
            <a:solidFill>
              <a:srgbClr val="D7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699099" y="2275433"/>
            <a:ext cx="4063901" cy="0"/>
          </a:xfrm>
          <a:prstGeom prst="line">
            <a:avLst/>
          </a:prstGeom>
          <a:noFill/>
          <a:ln w="9525">
            <a:solidFill>
              <a:srgbClr val="D7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03862" y="1041350"/>
            <a:ext cx="0" cy="1238845"/>
          </a:xfrm>
          <a:prstGeom prst="line">
            <a:avLst/>
          </a:prstGeom>
          <a:noFill/>
          <a:ln w="9525">
            <a:solidFill>
              <a:srgbClr val="D7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61024" y="1225451"/>
            <a:ext cx="38148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28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30–60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61024" y="1406426"/>
            <a:ext cx="381485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C2E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Harden, Expand and Decide Cutover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861024" y="1673126"/>
            <a:ext cx="3814852" cy="470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5"/>
              </a:lnSpc>
              <a:buNone/>
            </a:pPr>
            <a:r>
              <a:rPr lang="en-US" sz="9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alerting on stalled workflows and confirm vendor idempotency keys. Increase volume, add a second escalation tier, and decide go/no-go on migrating remaining in-flight applications.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81000" y="2457896"/>
            <a:ext cx="4000500" cy="1497360"/>
          </a:xfrm>
          <a:prstGeom prst="roundRect">
            <a:avLst>
              <a:gd name="adj" fmla="val 339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381000" y="2462659"/>
            <a:ext cx="4000500" cy="0"/>
          </a:xfrm>
          <a:prstGeom prst="line">
            <a:avLst/>
          </a:prstGeom>
          <a:noFill/>
          <a:ln w="9525">
            <a:solidFill>
              <a:srgbClr val="D7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376738" y="2457896"/>
            <a:ext cx="0" cy="1497360"/>
          </a:xfrm>
          <a:prstGeom prst="line">
            <a:avLst/>
          </a:prstGeom>
          <a:noFill/>
          <a:ln w="9525">
            <a:solidFill>
              <a:srgbClr val="D7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81000" y="3950494"/>
            <a:ext cx="4000500" cy="0"/>
          </a:xfrm>
          <a:prstGeom prst="line">
            <a:avLst/>
          </a:prstGeom>
          <a:noFill/>
          <a:ln w="9525">
            <a:solidFill>
              <a:srgbClr val="D7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09575" y="2457896"/>
            <a:ext cx="0" cy="1497360"/>
          </a:xfrm>
          <a:prstGeom prst="line">
            <a:avLst/>
          </a:prstGeom>
          <a:noFill/>
          <a:ln w="5715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15851" y="2594372"/>
            <a:ext cx="36499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C77E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5851" y="2842022"/>
            <a:ext cx="3578423" cy="926009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marL="88900" indent="-88900" algn="l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KYC vendor may not provide idempotency keys today</a:t>
            </a:r>
            <a:endParaRPr lang="en-US" sz="1000" dirty="0"/>
          </a:p>
          <a:p>
            <a:pPr marL="88900" indent="-88900" algn="l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 queue has no SLA currently — escalation policy is new</a:t>
            </a:r>
            <a:endParaRPr lang="en-US" sz="1000" dirty="0"/>
          </a:p>
          <a:p>
            <a:pPr marL="88900" indent="-88900" algn="l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spikes (e.g. campaigns) untested against worker sizing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635401" y="2457896"/>
            <a:ext cx="4000500" cy="1497360"/>
          </a:xfrm>
          <a:prstGeom prst="roundRect">
            <a:avLst>
              <a:gd name="adj" fmla="val 339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4635401" y="2462659"/>
            <a:ext cx="4000500" cy="0"/>
          </a:xfrm>
          <a:prstGeom prst="line">
            <a:avLst/>
          </a:prstGeom>
          <a:noFill/>
          <a:ln w="9525">
            <a:solidFill>
              <a:srgbClr val="D7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631138" y="2457896"/>
            <a:ext cx="0" cy="1497360"/>
          </a:xfrm>
          <a:prstGeom prst="line">
            <a:avLst/>
          </a:prstGeom>
          <a:noFill/>
          <a:ln w="9525">
            <a:solidFill>
              <a:srgbClr val="D7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635401" y="3950494"/>
            <a:ext cx="4000500" cy="0"/>
          </a:xfrm>
          <a:prstGeom prst="line">
            <a:avLst/>
          </a:prstGeom>
          <a:noFill/>
          <a:ln w="9525">
            <a:solidFill>
              <a:srgbClr val="D7DE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663976" y="2457896"/>
            <a:ext cx="0" cy="1497360"/>
          </a:xfrm>
          <a:prstGeom prst="line">
            <a:avLst/>
          </a:prstGeom>
          <a:noFill/>
          <a:ln w="57150">
            <a:solidFill>
              <a:srgbClr val="1289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70252" y="2594372"/>
            <a:ext cx="36499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28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Checks Before Production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70252" y="2842022"/>
            <a:ext cx="3578423" cy="761107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marL="88900" indent="-88900" algn="l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test with realistic and peak application volume</a:t>
            </a:r>
            <a:endParaRPr lang="en-US" sz="1000" dirty="0"/>
          </a:p>
          <a:p>
            <a:pPr marL="88900" indent="-88900" algn="l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namespace / task-queue sizing and worker autoscaling</a:t>
            </a:r>
            <a:endParaRPr lang="en-US" sz="1000" dirty="0"/>
          </a:p>
          <a:p>
            <a:pPr marL="88900" indent="-88900" algn="l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review of the ReviewServer signal endpoint (auth)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1676</TotalTime>
  <Words>820</Words>
  <Application>Microsoft Macintosh PowerPoint</Application>
  <PresentationFormat>On-screen Show (16:9)</PresentationFormat>
  <Paragraphs>98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Temporal Platform Architect — Fintech Onboarding &amp; KYC</dc:title>
  <dc:subject>PptxGenJS Presentation</dc:subject>
  <dc:creator>Northwind KYC Onboarding</dc:creator>
  <cp:lastModifiedBy>Pravin Bhat</cp:lastModifiedBy>
  <cp:revision>4</cp:revision>
  <dcterms:created xsi:type="dcterms:W3CDTF">2026-08-22T16:21:49Z</dcterms:created>
  <dcterms:modified xsi:type="dcterms:W3CDTF">2026-08-24T03:01:02Z</dcterms:modified>
</cp:coreProperties>
</file>